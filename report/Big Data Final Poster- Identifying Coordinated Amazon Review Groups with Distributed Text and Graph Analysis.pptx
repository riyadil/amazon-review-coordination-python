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" d="100"/>
          <a:sy n="16" d="100"/>
        </p:scale>
        <p:origin x="163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AmazonReviewCoordinationDF.py (load_enriched, add_group_key, repeated_pairs, pair_audit, component_stats, text_similarity, main); analysis/injection.py; analysis/sensitivity.py; report/final_report.pdf sections 2.3 and 4.3; report/evidence/runA-one-worker and runB-two-workers stdout/controller logs. Dataset: https://amazon-reviews-2023.github.io/ . Benchmark counts and runtimes are directly supported by saved logs. Stage timers include deferred Spark work and do not isolate operator costs. Both controlled EMR runs set WRITE_ENRICHED=0. Corpus byte sizes, AWS cost, sensitivity results, component-size distribution and aggregate text-pair totals are reported in the supplied report; full data, Parquet results, billing export and experiment CSVs are absent from this checkout. The planted-product construction tests rule recovery on isolated synthetic products, not contamination under shared real products. Numeric-suffix removal is a heuristic, not confirmed identity resolution. MinHash variation has been observed; its cause is not established by these materials. No full-corpus rerun was performed for this poster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CFA3-115F-4BAA-9E43-0055C87D3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buNone/>
              <a:defRPr sz="28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52D71-6CA5-4241-8630-5C9F72676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39E51-68DD-48A0-AF9D-B3B88732F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BF41-CC02-4A31-974E-EE4175FCDA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E16D-417F-41C8-B029-FEC430F4A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B70C-AAC6-4E6F-81E7-C471EF5A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1F54-3757-4CE2-B324-15A00DE6B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35525-04A7-4987-B49E-333D1D5CC3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51598-C019-41BD-B61B-0C3AFEDC78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C03E9-B78A-4583-9B45-4A9D12584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EF42-7F7F-4C7E-B4CE-17E83CED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buNone/>
              <a:defRPr sz="28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EEE00-68E0-44D2-9147-D3A420953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A2E0F-FB78-4655-B953-996901E4F3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1538-34AE-4535-A48F-1D6B3C5958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C161-6A54-4275-AC4B-9E8B82318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35DD-C696-4B1E-BF1E-89FCE1F5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AFE6-36EC-435E-A1BB-7CFB7C5D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A46FC-9CCC-455F-AD69-DD1686FF1A5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A8062-ED81-4D47-980B-904B19D96A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1524-47E2-4C02-A4E3-41B254C23D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86DAC-EC7F-4B70-A09D-59C9E6656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8EDE-EC8C-4446-B597-062BC981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E1690-6919-424E-BECD-0683A1392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C5310-1F33-4136-BEFD-B3163E6D886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01A79-76D5-4F99-A26D-39E17D4ABA1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A9047-52B4-49F5-9EE6-EFD6DDA8305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36C86-BEA1-4B5B-8BEA-6B1397E54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98961-5334-47E1-B137-380A18E74F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E6D25-D9B3-4B27-A9E2-26AC5F55F1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13F2-350A-445D-8A8D-A931ED23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9948B-33B9-4A6B-9F81-D353FE8C9F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FAEBA-9891-408B-8B9E-52C9DD445B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ACED5-5136-4A7C-AC12-30445301B8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AFA4C-8E85-41D7-9A33-F73299EAA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0953E-A621-4828-80F3-5BDA22FC5B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A09A-5658-4F79-B518-F085FFF73B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29165-BDFA-4E5E-ADFA-8315EC93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buNone/>
              <a:defRPr sz="1536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C644A-4E87-403B-A414-F9C8285AE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buNone/>
              <a:defRPr sz="15360"/>
            </a:lvl1pPr>
            <a:lvl2pPr>
              <a:buNone/>
              <a:defRPr sz="13440"/>
            </a:lvl2pPr>
            <a:lvl3pPr>
              <a:buNone/>
              <a:defRPr sz="11520"/>
            </a:lvl3pPr>
            <a:lvl4pPr>
              <a:buNone/>
              <a:defRPr sz="9600"/>
            </a:lvl4pPr>
            <a:lvl5pPr>
              <a:buNone/>
              <a:defRPr sz="9600"/>
            </a:lvl5pPr>
            <a:lvl6pPr>
              <a:buNone/>
              <a:defRPr sz="9600"/>
            </a:lvl6pPr>
            <a:lvl7pPr>
              <a:buNone/>
              <a:defRPr sz="9600"/>
            </a:lvl7pPr>
            <a:lvl8pPr>
              <a:buNone/>
              <a:defRPr sz="9600"/>
            </a:lvl8pPr>
            <a:lvl9pPr>
              <a:buNone/>
              <a:defRPr sz="9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47559-AEEB-4273-AE9C-4401375E56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37118-406E-434D-A319-005F8CFC65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AA8B8-F98B-4858-AA61-C549616BF3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D1589-00A8-4D91-B18C-3C720D2C2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5469-214F-4486-8611-8DC001E9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buNone/>
              <a:defRPr sz="1536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EBE1F-FF37-40E6-9718-93AF263F6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517DD-02CD-4062-B39F-9592B7CB41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1B907-9CE3-4E2B-96A2-414835DD9E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5E3A2-A386-47DD-A149-9E58C81F02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53429-76F5-4304-AE9E-85127BE6E9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60CE-430C-4178-8FDD-CFB9DF2D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C8FB1-0BC3-430C-80D3-91F373C4D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2435A-E593-47E8-BF7B-B4B446F694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68FC0-AB62-4F78-BB9F-8DDC4FC0AD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A1267-53FC-427F-A872-07200DF4CA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69ECC-57C3-425D-984D-F89F2F76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36E73-927E-4CDE-ACBA-734C858ED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AB50-EEC9-4580-864C-9728B31064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F09F1-F641-4984-BE0F-16246508BE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033A-E8D6-41AC-9DFA-83DA54A40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C3FADD-97D6-4925-80AB-2E151F8215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63015-59F6-4B45-837C-4204F6BA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6FD15-8393-41ED-ACD8-0D16E0448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93A27-B758-4304-B0AD-682704E1E2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C768D-79D3-4793-8684-0E0983B60F5C}" type="datetimeFigureOut">
              <a:t>10/9/2026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6B16-948E-4940-8F6C-73937BEACD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E0114-2797-4308-963E-4FE92FD515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3FADD-97D6-4925-80AB-2E151F82159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389120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097280" indent="-1097280" algn="l" defTabSz="4389120">
        <a:lnSpc>
          <a:spcPct val="90000"/>
        </a:lnSpc>
        <a:spcBef>
          <a:spcPts val="4800"/>
        </a:spcBef>
        <a:buFont typeface="Arial"/>
        <a:buChar char="•"/>
        <a:defRPr sz="13440" kern="1200">
          <a:solidFill>
            <a:schemeClr val="tx1"/>
          </a:solidFill>
          <a:latin typeface="+mn-lt"/>
          <a:ea typeface="+mn-lt"/>
          <a:cs typeface="+mn-lt"/>
        </a:defRPr>
      </a:lvl1pPr>
      <a:lvl2pPr marL="329184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11520" kern="12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lt"/>
          <a:cs typeface="+mn-lt"/>
        </a:defRPr>
      </a:lvl3pPr>
      <a:lvl4pPr marL="768096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4pPr>
      <a:lvl5pPr marL="987552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5pPr>
      <a:lvl6pPr marL="1207008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6pPr>
      <a:lvl7pPr marL="1426464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7pPr>
      <a:lvl8pPr marL="1645920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8pPr>
      <a:lvl9pPr marL="1865376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1pPr>
      <a:lvl2pPr marL="219456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2pPr>
      <a:lvl3pPr marL="438912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3pPr>
      <a:lvl4pPr marL="658368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4pPr>
      <a:lvl5pPr marL="877824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5pPr>
      <a:lvl6pPr marL="1097280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6pPr>
      <a:lvl7pPr marL="1316736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7pPr>
      <a:lvl8pPr marL="1536192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8pPr>
      <a:lvl9pPr marL="1755648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41">
            <a:extLst>
              <a:ext uri="{FF2B5EF4-FFF2-40B4-BE49-F238E27FC236}">
                <a16:creationId xmlns:a16="http://schemas.microsoft.com/office/drawing/2014/main" id="{785E979F-523B-4BFC-BA0F-155493794EC0}"/>
              </a:ext>
            </a:extLst>
          </p:cNvPr>
          <p:cNvSpPr>
            <a:spLocks noGrp="1"/>
          </p:cNvSpPr>
          <p:nvPr/>
        </p:nvSpPr>
        <p:spPr>
          <a:xfrm>
            <a:off x="914400" y="666531"/>
            <a:ext cx="42049996" cy="5579402"/>
          </a:xfrm>
          <a:prstGeom prst="rect">
            <a:avLst/>
          </a:prstGeom>
          <a:gradFill>
            <a:gsLst>
              <a:gs pos="80000">
                <a:srgbClr val="461D7C"/>
              </a:gs>
              <a:gs pos="100000">
                <a:srgbClr val="FDD023"/>
              </a:gs>
            </a:gsLst>
            <a:lin ang="0" scaled="1"/>
          </a:gradFill>
          <a:ln w="25400">
            <a:noFill/>
            <a:miter/>
          </a:ln>
        </p:spPr>
        <p:txBody>
          <a:bodyPr lIns="53524" tIns="26761" rIns="53524" bIns="26761" anchor="ctr"/>
          <a:lstStyle>
            <a:lvl1pPr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buNone/>
            </a:pPr>
            <a:endParaRPr sz="3675" b="1" i="1" u="sng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Box 241">
            <a:extLst>
              <a:ext uri="{FF2B5EF4-FFF2-40B4-BE49-F238E27FC236}">
                <a16:creationId xmlns:a16="http://schemas.microsoft.com/office/drawing/2014/main" id="{6E83C1C7-3AD1-4D2A-8F0A-E2F8F46DA2DC}"/>
              </a:ext>
            </a:extLst>
          </p:cNvPr>
          <p:cNvSpPr>
            <a:spLocks noGrp="1"/>
          </p:cNvSpPr>
          <p:nvPr/>
        </p:nvSpPr>
        <p:spPr>
          <a:xfrm>
            <a:off x="926805" y="666530"/>
            <a:ext cx="42049996" cy="5579402"/>
          </a:xfrm>
          <a:prstGeom prst="rect">
            <a:avLst/>
          </a:prstGeom>
          <a:gradFill>
            <a:gsLst>
              <a:gs pos="80000">
                <a:srgbClr val="461D7C"/>
              </a:gs>
              <a:gs pos="100000">
                <a:srgbClr val="FDD023"/>
              </a:gs>
            </a:gsLst>
            <a:lin ang="0" scaled="1"/>
          </a:gradFill>
          <a:ln w="25400">
            <a:noFill/>
            <a:miter/>
          </a:ln>
        </p:spPr>
        <p:txBody>
          <a:bodyPr lIns="53524" tIns="26761" rIns="53524" bIns="26761" anchor="ctr"/>
          <a:lstStyle>
            <a:lvl1pPr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buNone/>
            </a:pPr>
            <a:endParaRPr sz="3675" b="1" i="1" u="sng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 Box 262">
            <a:extLst>
              <a:ext uri="{FF2B5EF4-FFF2-40B4-BE49-F238E27FC236}">
                <a16:creationId xmlns:a16="http://schemas.microsoft.com/office/drawing/2014/main" id="{B2954BE1-452A-4BF9-9DF4-409FE0787838}"/>
              </a:ext>
            </a:extLst>
          </p:cNvPr>
          <p:cNvSpPr>
            <a:spLocks noGrp="1"/>
          </p:cNvSpPr>
          <p:nvPr/>
        </p:nvSpPr>
        <p:spPr>
          <a:xfrm>
            <a:off x="9418320" y="960120"/>
            <a:ext cx="24323040" cy="4396680"/>
          </a:xfrm>
          <a:prstGeom prst="rect">
            <a:avLst/>
          </a:prstGeom>
          <a:noFill/>
          <a:ln>
            <a:noFill/>
          </a:ln>
        </p:spPr>
        <p:txBody>
          <a:bodyPr lIns="53524" tIns="26761" rIns="53524" bIns="26761" anchor="ctr"/>
          <a:lstStyle>
            <a:lvl1pPr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612775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612775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buNone/>
            </a:pPr>
            <a:r>
              <a:rPr sz="5400" b="1">
                <a:solidFill>
                  <a:srgbClr val="FDD023"/>
                </a:solidFill>
                <a:latin typeface="Lucida Sans"/>
                <a:ea typeface="Lucida Sans"/>
                <a:cs typeface="Lucida Sans"/>
              </a:rPr>
              <a:t>Identifying Coordinated Amazon Review Groups</a:t>
            </a:r>
          </a:p>
          <a:p>
            <a:pPr algn="ctr">
              <a:buNone/>
            </a:pPr>
            <a:r>
              <a:rPr sz="5400" b="1">
                <a:solidFill>
                  <a:srgbClr val="FDD023"/>
                </a:solidFill>
                <a:latin typeface="Lucida Sans"/>
                <a:ea typeface="Lucida Sans"/>
                <a:cs typeface="Lucida Sans"/>
              </a:rPr>
              <a:t>with Distributed Text and Graph Analysis</a:t>
            </a:r>
          </a:p>
          <a:p>
            <a:pPr algn="ctr">
              <a:spcBef>
                <a:spcPct val="20000"/>
              </a:spcBef>
              <a:buNone/>
            </a:pPr>
            <a:r>
              <a:rPr sz="2400" b="1">
                <a:solidFill>
                  <a:schemeClr val="bg1"/>
                </a:solidFill>
                <a:latin typeface="Lucida Sans"/>
                <a:ea typeface="Lucida Sans"/>
                <a:cs typeface="Lucida Sans"/>
              </a:rPr>
              <a:t>Souhardya Saha Dip (ssahad1@lsu.edu)  |  Riyadil Zannat (rzanna2@lsu.edu)  |  Asif Faisal Chowdhury (achowd6@lsu.edu)</a:t>
            </a:r>
          </a:p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Lucida Sans"/>
                <a:ea typeface="Lucida Sans"/>
                <a:cs typeface="Lucida Sans"/>
              </a:rPr>
              <a:t>Louisiana State University, Baton Rouge, LA   |   CSC 7740 Big Data, Fall 2026</a:t>
            </a:r>
          </a:p>
          <a:p>
            <a:pPr algn="ctr">
              <a:buNone/>
            </a:pPr>
            <a:r>
              <a:rPr sz="2400" b="0">
                <a:solidFill>
                  <a:srgbClr val="FDD023"/>
                </a:solidFill>
                <a:latin typeface="Lucida Sans"/>
                <a:ea typeface="Lucida Sans"/>
                <a:cs typeface="Lucida Sans"/>
              </a:rPr>
              <a:t>Prior CSC 4740 at LSU: none of the team members has taken CSC 4740.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B6ACD-2D56-4047-BCEF-68531AB7F3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838018" y="2628922"/>
            <a:ext cx="6679619" cy="1554112"/>
          </a:xfrm>
          <a:prstGeom prst="rect">
            <a:avLst/>
          </a:prstGeom>
          <a:ln>
            <a:noFill/>
          </a:ln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8695A5D9-4552-4F32-8615-5259E3333D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707" b="4039"/>
          <a:stretch>
            <a:fillRect/>
          </a:stretch>
        </p:blipFill>
        <p:spPr>
          <a:xfrm>
            <a:off x="33561189" y="1562733"/>
            <a:ext cx="9099870" cy="3776315"/>
          </a:xfrm>
          <a:prstGeom prst="rect">
            <a:avLst/>
          </a:prstGeom>
          <a:ln>
            <a:noFill/>
          </a:ln>
        </p:spPr>
      </p:pic>
      <p:sp>
        <p:nvSpPr>
          <p:cNvPr id="12" name="Text Box 248">
            <a:extLst>
              <a:ext uri="{FF2B5EF4-FFF2-40B4-BE49-F238E27FC236}">
                <a16:creationId xmlns:a16="http://schemas.microsoft.com/office/drawing/2014/main" id="{CBF65B33-10BD-4EAF-9423-E9254D8C4C35}"/>
              </a:ext>
            </a:extLst>
          </p:cNvPr>
          <p:cNvSpPr>
            <a:spLocks noGrp="1"/>
          </p:cNvSpPr>
          <p:nvPr/>
        </p:nvSpPr>
        <p:spPr>
          <a:xfrm>
            <a:off x="914400" y="6858000"/>
            <a:ext cx="118872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Project Description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13" name="Text Box 248">
            <a:extLst>
              <a:ext uri="{FF2B5EF4-FFF2-40B4-BE49-F238E27FC236}">
                <a16:creationId xmlns:a16="http://schemas.microsoft.com/office/drawing/2014/main" id="{7D2D496F-3A68-48A9-846F-6842C657D281}"/>
              </a:ext>
            </a:extLst>
          </p:cNvPr>
          <p:cNvSpPr>
            <a:spLocks noGrp="1"/>
          </p:cNvSpPr>
          <p:nvPr/>
        </p:nvSpPr>
        <p:spPr>
          <a:xfrm>
            <a:off x="31089600" y="6858000"/>
            <a:ext cx="118872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Datasets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16" name="Text Box 248">
            <a:extLst>
              <a:ext uri="{FF2B5EF4-FFF2-40B4-BE49-F238E27FC236}">
                <a16:creationId xmlns:a16="http://schemas.microsoft.com/office/drawing/2014/main" id="{733C6985-888D-42D0-BB24-E57363CA8751}"/>
              </a:ext>
            </a:extLst>
          </p:cNvPr>
          <p:cNvSpPr>
            <a:spLocks noGrp="1"/>
          </p:cNvSpPr>
          <p:nvPr/>
        </p:nvSpPr>
        <p:spPr>
          <a:xfrm>
            <a:off x="13258800" y="6858000"/>
            <a:ext cx="169164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Big Data Frameworks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0" name="Text Box 248">
            <a:extLst>
              <a:ext uri="{FF2B5EF4-FFF2-40B4-BE49-F238E27FC236}">
                <a16:creationId xmlns:a16="http://schemas.microsoft.com/office/drawing/2014/main" id="{D3630B2B-0361-40CD-82C0-8C1D46313DD6}"/>
              </a:ext>
            </a:extLst>
          </p:cNvPr>
          <p:cNvSpPr>
            <a:spLocks noGrp="1"/>
          </p:cNvSpPr>
          <p:nvPr/>
        </p:nvSpPr>
        <p:spPr>
          <a:xfrm>
            <a:off x="13258800" y="15041880"/>
            <a:ext cx="169164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Main Results &amp; Screenshots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18" name="Text Box 248">
            <a:extLst>
              <a:ext uri="{FF2B5EF4-FFF2-40B4-BE49-F238E27FC236}">
                <a16:creationId xmlns:a16="http://schemas.microsoft.com/office/drawing/2014/main" id="{0C4DD815-6E1B-4806-BF7E-3D84E4EEC94B}"/>
              </a:ext>
            </a:extLst>
          </p:cNvPr>
          <p:cNvSpPr>
            <a:spLocks noGrp="1"/>
          </p:cNvSpPr>
          <p:nvPr/>
        </p:nvSpPr>
        <p:spPr>
          <a:xfrm>
            <a:off x="31089600" y="15041880"/>
            <a:ext cx="118872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Conclusion &amp; Future Work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3" name="Text Box 248">
            <a:extLst>
              <a:ext uri="{FF2B5EF4-FFF2-40B4-BE49-F238E27FC236}">
                <a16:creationId xmlns:a16="http://schemas.microsoft.com/office/drawing/2014/main" id="{DE9A0645-3078-4087-8FA2-87F5206C41E6}"/>
              </a:ext>
            </a:extLst>
          </p:cNvPr>
          <p:cNvSpPr>
            <a:spLocks noGrp="1"/>
          </p:cNvSpPr>
          <p:nvPr/>
        </p:nvSpPr>
        <p:spPr>
          <a:xfrm>
            <a:off x="914400" y="15041880"/>
            <a:ext cx="11887200" cy="768096"/>
          </a:xfrm>
          <a:prstGeom prst="rect">
            <a:avLst/>
          </a:prstGeom>
          <a:solidFill>
            <a:srgbClr val="461D7C"/>
          </a:solidFill>
          <a:ln w="19050">
            <a:noFill/>
            <a:miter/>
          </a:ln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r>
              <a:rPr sz="3850" b="1">
                <a:solidFill>
                  <a:srgbClr val="FDD023"/>
                </a:solidFill>
                <a:latin typeface="Arial Black"/>
                <a:ea typeface="Arial Black"/>
                <a:cs typeface="Arial Black"/>
              </a:rPr>
              <a:t>Development Details</a:t>
            </a:r>
            <a:endParaRPr sz="2800" b="1">
              <a:solidFill>
                <a:srgbClr val="FDD023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1C2069-9916-45F7-837D-317DD400AD3E}"/>
              </a:ext>
            </a:extLst>
          </p:cNvPr>
          <p:cNvSpPr>
            <a:spLocks noGrp="1"/>
          </p:cNvSpPr>
          <p:nvPr/>
        </p:nvSpPr>
        <p:spPr>
          <a:xfrm>
            <a:off x="914400" y="7626096"/>
            <a:ext cx="11887200" cy="7050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76F75-1F3C-4A4B-87A2-D945CAE93DDD}"/>
              </a:ext>
            </a:extLst>
          </p:cNvPr>
          <p:cNvSpPr>
            <a:spLocks noGrp="1"/>
          </p:cNvSpPr>
          <p:nvPr/>
        </p:nvSpPr>
        <p:spPr>
          <a:xfrm>
            <a:off x="960120" y="7671816"/>
            <a:ext cx="11795760" cy="6958584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297180" indent="-297180" algn="l">
              <a:lnSpc>
                <a:spcPct val="108000"/>
              </a:lnSpc>
              <a:spcBef>
                <a:spcPts val="0"/>
              </a:spcBef>
              <a:buClr>
                <a:srgbClr val="461D7C"/>
              </a:buClr>
              <a:buFont typeface="Arial"/>
              <a:buChar char="•"/>
            </a:pPr>
            <a:r>
              <a:rPr sz="26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Goal: </a:t>
            </a: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find groups of Amazon accounts that review the same products inside the same short time windows again and again, across 24.4 million reviews.</a:t>
            </a:r>
          </a:p>
          <a:p>
            <a:pPr marL="297180" indent="-29718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6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Time buckets: </a:t>
            </a: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reviews of one product in a fixed 24-hour bucket; buckets with more than 100 reviews are split into 6-hour buckets to reduce pair growth.</a:t>
            </a:r>
          </a:p>
          <a:p>
            <a:pPr marL="297180" indent="-29718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6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Co-review graph: </a:t>
            </a: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two accounts are linked only if they share at least 3 distinct product-time groups. Same-base ID pairs (X and X_1) are filtered as suspected artifacts.</a:t>
            </a:r>
          </a:p>
          <a:p>
            <a:pPr marL="297180" indent="-29718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6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Candidate groups: </a:t>
            </a: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GraphFrames connected components of this graph, ranked by a 7-signal score: size, density, repetition, MinHash text similarity, time concentration, deviation from catalog rating, and rating agreement.</a:t>
            </a:r>
          </a:p>
          <a:p>
            <a:pPr marL="297180" indent="-29718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6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Use: </a:t>
            </a: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 ranked review queue for human moderators. A flagged group is a candidate, not a fraud label.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39A00B-057B-4450-BD76-D93594777076}"/>
              </a:ext>
            </a:extLst>
          </p:cNvPr>
          <p:cNvSpPr>
            <a:spLocks noGrp="1"/>
          </p:cNvSpPr>
          <p:nvPr/>
        </p:nvSpPr>
        <p:spPr>
          <a:xfrm>
            <a:off x="914400" y="15809976"/>
            <a:ext cx="11887200" cy="16468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765068-938D-4D91-BE4C-5B02A43B7CC2}"/>
              </a:ext>
            </a:extLst>
          </p:cNvPr>
          <p:cNvSpPr>
            <a:spLocks noGrp="1"/>
          </p:cNvSpPr>
          <p:nvPr/>
        </p:nvSpPr>
        <p:spPr>
          <a:xfrm>
            <a:off x="960120" y="15901416"/>
            <a:ext cx="11795760" cy="45720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23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Computing environments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BBF385C-8C48-4239-AD30-7FEEFE83326D}"/>
              </a:ext>
            </a:extLst>
          </p:cNvPr>
          <p:cNvGraphicFramePr/>
          <p:nvPr/>
        </p:nvGraphicFramePr>
        <p:xfrm>
          <a:off x="1097280" y="16404336"/>
          <a:ext cx="11521439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4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Local baseline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Linux workstation, PySpark 3.5, local[4], 8 GB driver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Cloud cluster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AWS EMR 7.14.0: Hadoop 3.4.2, Spark 3.5.8, JDK 17, YARN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Nodes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 primary + 1 core (Run A) or 2 core (Run B), all m5.xlarge (4 vCPU, 16 GB)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Amazon S3 for input, code, logs and Parquet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$6.11 total AWS cost (Cost Explorer); 7.78 h cluster lifetime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10A6255-DA70-4B34-8FDA-81BC2DAB8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0519136"/>
            <a:ext cx="11521440" cy="2505913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A835073-DD54-45C0-88D6-3F1790C77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098201"/>
            <a:ext cx="11521440" cy="1849191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E890CB5-B0E4-44EA-8E40-049D95D770A6}"/>
              </a:ext>
            </a:extLst>
          </p:cNvPr>
          <p:cNvSpPr>
            <a:spLocks noGrp="1"/>
          </p:cNvSpPr>
          <p:nvPr/>
        </p:nvSpPr>
        <p:spPr>
          <a:xfrm>
            <a:off x="1005840" y="24965680"/>
            <a:ext cx="11704320" cy="566928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6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EMR console: capacity 1 primary + 2 core after the resize; both full-corpus steps Completed (Run A 2 h 3 min, Run B 1 h 40 min).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BB206C-1347-47B7-8856-5F9666AF630A}"/>
              </a:ext>
            </a:extLst>
          </p:cNvPr>
          <p:cNvSpPr>
            <a:spLocks noGrp="1"/>
          </p:cNvSpPr>
          <p:nvPr/>
        </p:nvSpPr>
        <p:spPr>
          <a:xfrm>
            <a:off x="960120" y="25651480"/>
            <a:ext cx="11795760" cy="45720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23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Technical challenges and fixes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FF4B48-79B9-42CE-9672-551FF063D972}"/>
              </a:ext>
            </a:extLst>
          </p:cNvPr>
          <p:cNvSpPr>
            <a:spLocks noGrp="1"/>
          </p:cNvSpPr>
          <p:nvPr/>
        </p:nvSpPr>
        <p:spPr>
          <a:xfrm>
            <a:off x="960120" y="26154400"/>
            <a:ext cx="11795760" cy="6078199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285750" indent="-285750" algn="l">
              <a:lnSpc>
                <a:spcPct val="114000"/>
              </a:lnSpc>
              <a:spcBef>
                <a:spcPts val="0"/>
              </a:spcBef>
              <a:buClr>
                <a:srgbClr val="461D7C"/>
              </a:buClr>
              <a:buFont typeface="Arial"/>
              <a:buChar char="•"/>
            </a:pPr>
            <a:r>
              <a:rPr sz="25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Out of memory: </a:t>
            </a:r>
            <a:r>
              <a:rPr sz="2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first version turned every review into a Python object and ran out of heap at 24.4M rows. Rewriting it with DataFrame expressions fixed this (Video Games: 1,003 s to 617 s).</a:t>
            </a:r>
          </a:p>
          <a:p>
            <a:pPr marL="285750" indent="-285750" algn="l">
              <a:lnSpc>
                <a:spcPct val="114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5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Schema inference failed: </a:t>
            </a:r>
            <a:r>
              <a:rPr sz="2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metadata keys differ only by letter case. We use explicit schemas for the 8 review and 4 metadata fields we need.</a:t>
            </a:r>
          </a:p>
          <a:p>
            <a:pPr marL="285750" indent="-285750" algn="l">
              <a:lnSpc>
                <a:spcPct val="114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5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ID artifacts: </a:t>
            </a:r>
            <a:r>
              <a:rPr sz="2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same-base IDs co-reviewed up to 464 groups. The rule flags 28 pairs and removes 13 same-base pairs; shared identity is not confirmed.</a:t>
            </a:r>
          </a:p>
          <a:p>
            <a:pPr marL="285750" indent="-285750" algn="l">
              <a:lnSpc>
                <a:spcPct val="114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5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Cluster failures: </a:t>
            </a:r>
            <a:r>
              <a:rPr sz="2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local filesystem settings and host-less HDFS paths caused EMR failures. Local defaults are now isolated and cluster paths fully qualified.</a:t>
            </a:r>
          </a:p>
          <a:p>
            <a:pPr marL="285750" indent="-285750" algn="l">
              <a:lnSpc>
                <a:spcPct val="114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5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Slow graph step: </a:t>
            </a:r>
            <a:r>
              <a:rPr sz="25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default GraphFrames launched hundreds of stages on a small graph; algorithm="graphx" fixed it.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588022-3D56-4E61-9217-20A9E83B3FC8}"/>
              </a:ext>
            </a:extLst>
          </p:cNvPr>
          <p:cNvSpPr>
            <a:spLocks noGrp="1"/>
          </p:cNvSpPr>
          <p:nvPr/>
        </p:nvSpPr>
        <p:spPr>
          <a:xfrm>
            <a:off x="13258800" y="7626096"/>
            <a:ext cx="16916400" cy="7050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B6789F-0DEA-4640-BF17-E35DA946EF69}"/>
              </a:ext>
            </a:extLst>
          </p:cNvPr>
          <p:cNvSpPr>
            <a:spLocks noGrp="1"/>
          </p:cNvSpPr>
          <p:nvPr/>
        </p:nvSpPr>
        <p:spPr>
          <a:xfrm>
            <a:off x="13304520" y="7653527"/>
            <a:ext cx="16824960" cy="393192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257175" indent="-257175" algn="l">
              <a:lnSpc>
                <a:spcPct val="108000"/>
              </a:lnSpc>
              <a:spcBef>
                <a:spcPts val="0"/>
              </a:spcBef>
              <a:buClr>
                <a:srgbClr val="461D7C"/>
              </a:buClr>
              <a:buFont typeface="Arial"/>
              <a:buChar char="•"/>
            </a:pPr>
            <a:r>
              <a:rPr sz="22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Apache Spark 3.5, PySpark DataFrame API + Spark SQL: </a:t>
            </a:r>
            <a:r>
              <a:rPr sz="22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explicit schemas, distributed metadata join, time bucketing, and the self-join that builds account pairs (400 shuffle partitions on EMR).</a:t>
            </a:r>
          </a:p>
          <a:p>
            <a:pPr marL="257175" indent="-257175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2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Spark MLlib MinHashLSH: </a:t>
            </a:r>
            <a:r>
              <a:rPr sz="22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word-token sets, HashingTF (2^18 features), 5 hash tables, seed 42; cross-account matches within components, with a 0.70 similarity cutoff and 30+ characters.</a:t>
            </a:r>
          </a:p>
          <a:p>
            <a:pPr marL="257175" indent="-257175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2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GraphFrames 0.8.4: </a:t>
            </a:r>
            <a:r>
              <a:rPr sz="22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connectedComponents(algorithm="graphx") with a checkpoint directory, plus a DataFrame label-propagation fallback (USE_GRAPHFRAMES=0).</a:t>
            </a:r>
          </a:p>
          <a:p>
            <a:pPr marL="257175" indent="-257175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2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Apache Parquet + Amazon S3: </a:t>
            </a:r>
            <a:r>
              <a:rPr sz="22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ranked groups and review evidence; optional enriched Parquet by category/year was disabled in both EMR benchmarks.</a:t>
            </a:r>
          </a:p>
          <a:p>
            <a:pPr marL="257175" indent="-257175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2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AWS EMR on EC2: </a:t>
            </a:r>
            <a:r>
              <a:rPr sz="22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YARN cluster, client mode, 4 GB driver; the same code runs locally and on EMR through environment variables.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54A532-3A0C-4902-B10B-2C13BA751218}"/>
              </a:ext>
            </a:extLst>
          </p:cNvPr>
          <p:cNvSpPr>
            <a:spLocks noGrp="1"/>
          </p:cNvSpPr>
          <p:nvPr/>
        </p:nvSpPr>
        <p:spPr>
          <a:xfrm>
            <a:off x="13395960" y="12015216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Read JSONL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explicit schemas, S3</a:t>
            </a:r>
          </a:p>
        </p:txBody>
      </p:sp>
      <p:sp>
        <p:nvSpPr>
          <p:cNvPr id="37" name="Connector 36">
            <a:extLst>
              <a:ext uri="{FF2B5EF4-FFF2-40B4-BE49-F238E27FC236}">
                <a16:creationId xmlns:a16="http://schemas.microsoft.com/office/drawing/2014/main" id="{8574C5D0-C39F-440D-AFF6-9F3E02D91671}"/>
              </a:ext>
            </a:extLst>
          </p:cNvPr>
          <p:cNvSpPr>
            <a:spLocks noGrp="1"/>
          </p:cNvSpPr>
          <p:nvPr/>
        </p:nvSpPr>
        <p:spPr>
          <a:xfrm>
            <a:off x="17218152" y="12540996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3CB244E-BB63-4037-BEE3-5DABA015E558}"/>
              </a:ext>
            </a:extLst>
          </p:cNvPr>
          <p:cNvSpPr>
            <a:spLocks noGrp="1"/>
          </p:cNvSpPr>
          <p:nvPr/>
        </p:nvSpPr>
        <p:spPr>
          <a:xfrm>
            <a:off x="17678400" y="12015216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Join metadata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parent_asin, rating dev.</a:t>
            </a:r>
          </a:p>
        </p:txBody>
      </p:sp>
      <p:sp>
        <p:nvSpPr>
          <p:cNvPr id="39" name="Connector 38">
            <a:extLst>
              <a:ext uri="{FF2B5EF4-FFF2-40B4-BE49-F238E27FC236}">
                <a16:creationId xmlns:a16="http://schemas.microsoft.com/office/drawing/2014/main" id="{1559A0BA-1B3D-4C8D-B5DA-FB98AA710F0F}"/>
              </a:ext>
            </a:extLst>
          </p:cNvPr>
          <p:cNvSpPr>
            <a:spLocks noGrp="1"/>
          </p:cNvSpPr>
          <p:nvPr/>
        </p:nvSpPr>
        <p:spPr>
          <a:xfrm>
            <a:off x="21500592" y="12540996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8E27C56-C6C2-49DE-B392-B95026421C60}"/>
              </a:ext>
            </a:extLst>
          </p:cNvPr>
          <p:cNvSpPr>
            <a:spLocks noGrp="1"/>
          </p:cNvSpPr>
          <p:nvPr/>
        </p:nvSpPr>
        <p:spPr>
          <a:xfrm>
            <a:off x="21960840" y="12015216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Product-time groups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 h, 6 h if &gt;100</a:t>
            </a: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33D93575-8A4B-4FAC-B125-BB35B8F9A509}"/>
              </a:ext>
            </a:extLst>
          </p:cNvPr>
          <p:cNvSpPr>
            <a:spLocks noGrp="1"/>
          </p:cNvSpPr>
          <p:nvPr/>
        </p:nvSpPr>
        <p:spPr>
          <a:xfrm>
            <a:off x="25783032" y="12540996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50B1A75-5A94-4E68-B08B-27C2E3981BC6}"/>
              </a:ext>
            </a:extLst>
          </p:cNvPr>
          <p:cNvSpPr>
            <a:spLocks noGrp="1"/>
          </p:cNvSpPr>
          <p:nvPr/>
        </p:nvSpPr>
        <p:spPr>
          <a:xfrm>
            <a:off x="26243279" y="12015216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Account pairs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self-join per group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9494C2C-E075-4BA3-A97C-C8DA49F10BE4}"/>
              </a:ext>
            </a:extLst>
          </p:cNvPr>
          <p:cNvSpPr>
            <a:spLocks noGrp="1"/>
          </p:cNvSpPr>
          <p:nvPr/>
        </p:nvSpPr>
        <p:spPr>
          <a:xfrm>
            <a:off x="13395960" y="13414248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8. Write Parquet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ranked groups + evidence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37E1C6E-8AC5-4248-BEC9-907D20E9CC6E}"/>
              </a:ext>
            </a:extLst>
          </p:cNvPr>
          <p:cNvSpPr>
            <a:spLocks noGrp="1"/>
          </p:cNvSpPr>
          <p:nvPr/>
        </p:nvSpPr>
        <p:spPr>
          <a:xfrm>
            <a:off x="17678400" y="13414248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 w="50800">
            <a:solidFill>
              <a:srgbClr val="FDD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7. Score + rank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signals + MinHash</a:t>
            </a:r>
          </a:p>
        </p:txBody>
      </p:sp>
      <p:sp>
        <p:nvSpPr>
          <p:cNvPr id="45" name="Connector 44">
            <a:extLst>
              <a:ext uri="{FF2B5EF4-FFF2-40B4-BE49-F238E27FC236}">
                <a16:creationId xmlns:a16="http://schemas.microsoft.com/office/drawing/2014/main" id="{D9F988F6-99D9-4A2B-81C2-EBDA97916106}"/>
              </a:ext>
            </a:extLst>
          </p:cNvPr>
          <p:cNvSpPr>
            <a:spLocks noGrp="1"/>
          </p:cNvSpPr>
          <p:nvPr/>
        </p:nvSpPr>
        <p:spPr>
          <a:xfrm flipH="1">
            <a:off x="17218152" y="13940028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2253AC7-8FC3-4411-904D-0337B32D959F}"/>
              </a:ext>
            </a:extLst>
          </p:cNvPr>
          <p:cNvSpPr>
            <a:spLocks noGrp="1"/>
          </p:cNvSpPr>
          <p:nvPr/>
        </p:nvSpPr>
        <p:spPr>
          <a:xfrm>
            <a:off x="21960840" y="13414248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6. Components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GraphFrames</a:t>
            </a:r>
          </a:p>
        </p:txBody>
      </p:sp>
      <p:sp>
        <p:nvSpPr>
          <p:cNvPr id="47" name="Connector 46">
            <a:extLst>
              <a:ext uri="{FF2B5EF4-FFF2-40B4-BE49-F238E27FC236}">
                <a16:creationId xmlns:a16="http://schemas.microsoft.com/office/drawing/2014/main" id="{0AE532FC-3874-4E12-B23F-E8AA7C6EAEFC}"/>
              </a:ext>
            </a:extLst>
          </p:cNvPr>
          <p:cNvSpPr>
            <a:spLocks noGrp="1"/>
          </p:cNvSpPr>
          <p:nvPr/>
        </p:nvSpPr>
        <p:spPr>
          <a:xfrm flipH="1">
            <a:off x="21500592" y="13940028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821933B-53CD-43A0-A318-2D6036185CAA}"/>
              </a:ext>
            </a:extLst>
          </p:cNvPr>
          <p:cNvSpPr>
            <a:spLocks noGrp="1"/>
          </p:cNvSpPr>
          <p:nvPr/>
        </p:nvSpPr>
        <p:spPr>
          <a:xfrm>
            <a:off x="26243279" y="13414248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5. Edges</a:t>
            </a:r>
          </a:p>
          <a:p>
            <a:pPr algn="ctr">
              <a:spcBef>
                <a:spcPts val="200"/>
              </a:spcBef>
              <a:buNone/>
            </a:pPr>
            <a:r>
              <a:rPr sz="14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3+ groups, audit IDs</a:t>
            </a:r>
          </a:p>
        </p:txBody>
      </p:sp>
      <p:sp>
        <p:nvSpPr>
          <p:cNvPr id="49" name="Connector 48">
            <a:extLst>
              <a:ext uri="{FF2B5EF4-FFF2-40B4-BE49-F238E27FC236}">
                <a16:creationId xmlns:a16="http://schemas.microsoft.com/office/drawing/2014/main" id="{E0474946-F233-41ED-B9D6-195F2A0CDCB9}"/>
              </a:ext>
            </a:extLst>
          </p:cNvPr>
          <p:cNvSpPr>
            <a:spLocks noGrp="1"/>
          </p:cNvSpPr>
          <p:nvPr/>
        </p:nvSpPr>
        <p:spPr>
          <a:xfrm flipH="1">
            <a:off x="25783032" y="13940028"/>
            <a:ext cx="432815" cy="0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0" name="Connector 49">
            <a:extLst>
              <a:ext uri="{FF2B5EF4-FFF2-40B4-BE49-F238E27FC236}">
                <a16:creationId xmlns:a16="http://schemas.microsoft.com/office/drawing/2014/main" id="{F7098D24-988F-4982-92DB-EAD34B281524}"/>
              </a:ext>
            </a:extLst>
          </p:cNvPr>
          <p:cNvSpPr>
            <a:spLocks noGrp="1"/>
          </p:cNvSpPr>
          <p:nvPr/>
        </p:nvSpPr>
        <p:spPr>
          <a:xfrm>
            <a:off x="28140659" y="13085064"/>
            <a:ext cx="0" cy="310896"/>
          </a:xfrm>
          <a:prstGeom prst="line">
            <a:avLst/>
          </a:prstGeom>
          <a:ln w="3810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1D4BA2-9919-4B1B-9421-613608A5078F}"/>
              </a:ext>
            </a:extLst>
          </p:cNvPr>
          <p:cNvSpPr>
            <a:spLocks noGrp="1"/>
          </p:cNvSpPr>
          <p:nvPr/>
        </p:nvSpPr>
        <p:spPr>
          <a:xfrm>
            <a:off x="13258800" y="15809976"/>
            <a:ext cx="16916400" cy="16468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8B209A3-FBDA-4A74-B2FB-1D251328C744}"/>
              </a:ext>
            </a:extLst>
          </p:cNvPr>
          <p:cNvSpPr>
            <a:spLocks noGrp="1"/>
          </p:cNvSpPr>
          <p:nvPr/>
        </p:nvSpPr>
        <p:spPr>
          <a:xfrm>
            <a:off x="13395960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24.4M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reviews ingested</a:t>
            </a:r>
          </a:p>
        </p:txBody>
      </p:sp>
      <p:sp>
        <p:nvSpPr>
          <p:cNvPr id="53" name="Connector 52">
            <a:extLst>
              <a:ext uri="{FF2B5EF4-FFF2-40B4-BE49-F238E27FC236}">
                <a16:creationId xmlns:a16="http://schemas.microsoft.com/office/drawing/2014/main" id="{F2051A4F-F6ED-49E2-915F-ABD48FE641CD}"/>
              </a:ext>
            </a:extLst>
          </p:cNvPr>
          <p:cNvSpPr>
            <a:spLocks noGrp="1"/>
          </p:cNvSpPr>
          <p:nvPr/>
        </p:nvSpPr>
        <p:spPr>
          <a:xfrm>
            <a:off x="15959328" y="16655795"/>
            <a:ext cx="237744" cy="0"/>
          </a:xfrm>
          <a:prstGeom prst="line">
            <a:avLst/>
          </a:prstGeom>
          <a:ln w="3175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C7B2D67-8091-4779-B255-25FD65C9885B}"/>
              </a:ext>
            </a:extLst>
          </p:cNvPr>
          <p:cNvSpPr>
            <a:spLocks noGrp="1"/>
          </p:cNvSpPr>
          <p:nvPr/>
        </p:nvSpPr>
        <p:spPr>
          <a:xfrm>
            <a:off x="16215360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20.6M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product-time groups</a:t>
            </a:r>
          </a:p>
        </p:txBody>
      </p:sp>
      <p:sp>
        <p:nvSpPr>
          <p:cNvPr id="55" name="Connector 54">
            <a:extLst>
              <a:ext uri="{FF2B5EF4-FFF2-40B4-BE49-F238E27FC236}">
                <a16:creationId xmlns:a16="http://schemas.microsoft.com/office/drawing/2014/main" id="{1B616432-807D-4288-9D3C-9CFDADA9A25D}"/>
              </a:ext>
            </a:extLst>
          </p:cNvPr>
          <p:cNvSpPr>
            <a:spLocks noGrp="1"/>
          </p:cNvSpPr>
          <p:nvPr/>
        </p:nvSpPr>
        <p:spPr>
          <a:xfrm>
            <a:off x="18778728" y="16655795"/>
            <a:ext cx="237744" cy="0"/>
          </a:xfrm>
          <a:prstGeom prst="line">
            <a:avLst/>
          </a:prstGeom>
          <a:ln w="3175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09D39BE-0CEB-42A4-A6B0-E0ACC19997A4}"/>
              </a:ext>
            </a:extLst>
          </p:cNvPr>
          <p:cNvSpPr>
            <a:spLocks noGrp="1"/>
          </p:cNvSpPr>
          <p:nvPr/>
        </p:nvSpPr>
        <p:spPr>
          <a:xfrm>
            <a:off x="19034760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1,051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pairs in 3+ groups</a:t>
            </a:r>
          </a:p>
        </p:txBody>
      </p:sp>
      <p:sp>
        <p:nvSpPr>
          <p:cNvPr id="57" name="Connector 56">
            <a:extLst>
              <a:ext uri="{FF2B5EF4-FFF2-40B4-BE49-F238E27FC236}">
                <a16:creationId xmlns:a16="http://schemas.microsoft.com/office/drawing/2014/main" id="{FF05F5D5-381D-489E-A8C6-7B1E60BE00C0}"/>
              </a:ext>
            </a:extLst>
          </p:cNvPr>
          <p:cNvSpPr>
            <a:spLocks noGrp="1"/>
          </p:cNvSpPr>
          <p:nvPr/>
        </p:nvSpPr>
        <p:spPr>
          <a:xfrm>
            <a:off x="21598128" y="16655795"/>
            <a:ext cx="237744" cy="0"/>
          </a:xfrm>
          <a:prstGeom prst="line">
            <a:avLst/>
          </a:prstGeom>
          <a:ln w="3175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7723BB5-DB4D-4AD3-AC71-DE442331D29C}"/>
              </a:ext>
            </a:extLst>
          </p:cNvPr>
          <p:cNvSpPr>
            <a:spLocks noGrp="1"/>
          </p:cNvSpPr>
          <p:nvPr/>
        </p:nvSpPr>
        <p:spPr>
          <a:xfrm>
            <a:off x="21854160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1,038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edges after audit</a:t>
            </a:r>
          </a:p>
        </p:txBody>
      </p:sp>
      <p:sp>
        <p:nvSpPr>
          <p:cNvPr id="59" name="Connector 58">
            <a:extLst>
              <a:ext uri="{FF2B5EF4-FFF2-40B4-BE49-F238E27FC236}">
                <a16:creationId xmlns:a16="http://schemas.microsoft.com/office/drawing/2014/main" id="{9730CCF7-CD39-4CDF-9C2A-282DB6937560}"/>
              </a:ext>
            </a:extLst>
          </p:cNvPr>
          <p:cNvSpPr>
            <a:spLocks noGrp="1"/>
          </p:cNvSpPr>
          <p:nvPr/>
        </p:nvSpPr>
        <p:spPr>
          <a:xfrm>
            <a:off x="24417527" y="16655795"/>
            <a:ext cx="237744" cy="0"/>
          </a:xfrm>
          <a:prstGeom prst="line">
            <a:avLst/>
          </a:prstGeom>
          <a:ln w="3175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870F940-086C-4FEB-A87A-B25B6A6A567E}"/>
              </a:ext>
            </a:extLst>
          </p:cNvPr>
          <p:cNvSpPr>
            <a:spLocks noGrp="1"/>
          </p:cNvSpPr>
          <p:nvPr/>
        </p:nvSpPr>
        <p:spPr>
          <a:xfrm>
            <a:off x="24673560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1,294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 in graph</a:t>
            </a:r>
          </a:p>
        </p:txBody>
      </p:sp>
      <p:sp>
        <p:nvSpPr>
          <p:cNvPr id="61" name="Connector 60">
            <a:extLst>
              <a:ext uri="{FF2B5EF4-FFF2-40B4-BE49-F238E27FC236}">
                <a16:creationId xmlns:a16="http://schemas.microsoft.com/office/drawing/2014/main" id="{0673E973-B1C2-4171-8CE1-08FD334C2D65}"/>
              </a:ext>
            </a:extLst>
          </p:cNvPr>
          <p:cNvSpPr>
            <a:spLocks noGrp="1"/>
          </p:cNvSpPr>
          <p:nvPr/>
        </p:nvSpPr>
        <p:spPr>
          <a:xfrm>
            <a:off x="27236928" y="16655795"/>
            <a:ext cx="237744" cy="0"/>
          </a:xfrm>
          <a:prstGeom prst="line">
            <a:avLst/>
          </a:prstGeom>
          <a:ln w="31750">
            <a:solidFill>
              <a:srgbClr val="461D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94937DC3-EC91-4D9A-BC09-30CB024A7EC6}"/>
              </a:ext>
            </a:extLst>
          </p:cNvPr>
          <p:cNvSpPr>
            <a:spLocks noGrp="1"/>
          </p:cNvSpPr>
          <p:nvPr/>
        </p:nvSpPr>
        <p:spPr>
          <a:xfrm>
            <a:off x="27492959" y="15947135"/>
            <a:ext cx="2545080" cy="1417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0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443</a:t>
            </a:r>
          </a:p>
          <a:p>
            <a:pPr algn="ctr">
              <a:spcBef>
                <a:spcPts val="200"/>
              </a:spcBef>
              <a:buNone/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groups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EF22E3-037A-43C0-ACF4-D583969B555E}"/>
              </a:ext>
            </a:extLst>
          </p:cNvPr>
          <p:cNvSpPr>
            <a:spLocks noGrp="1"/>
          </p:cNvSpPr>
          <p:nvPr/>
        </p:nvSpPr>
        <p:spPr>
          <a:xfrm>
            <a:off x="13350240" y="17391887"/>
            <a:ext cx="16733520" cy="41148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buNone/>
            </a:pPr>
            <a:r>
              <a:rPr sz="15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These aggregate graph counts match in both EMR logs; text matches and some rankings differ.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E302D4-4997-46D4-B9F9-E607248E8E3C}"/>
              </a:ext>
            </a:extLst>
          </p:cNvPr>
          <p:cNvSpPr>
            <a:spLocks noGrp="1"/>
          </p:cNvSpPr>
          <p:nvPr/>
        </p:nvSpPr>
        <p:spPr>
          <a:xfrm>
            <a:off x="13395960" y="17849087"/>
            <a:ext cx="8275320" cy="45720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9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A. Scale-out on EMR, full corpus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1FE564-F24E-4A65-A17B-C7BBFA55EEDF}"/>
              </a:ext>
            </a:extLst>
          </p:cNvPr>
          <p:cNvSpPr>
            <a:spLocks noGrp="1"/>
          </p:cNvSpPr>
          <p:nvPr/>
        </p:nvSpPr>
        <p:spPr>
          <a:xfrm>
            <a:off x="21762720" y="17849087"/>
            <a:ext cx="8275320" cy="45720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9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B. Threshold and window sensitivity (Video Games)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D4CE2A9-DD45-4AF6-A5F4-3BDBE29CD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5960" y="18306287"/>
            <a:ext cx="8275320" cy="588467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49CE92C-1D41-41AB-A0A2-4283D02629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62720" y="18306287"/>
            <a:ext cx="8275320" cy="588467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586CF17-F58C-4A43-B464-25D16235072E}"/>
              </a:ext>
            </a:extLst>
          </p:cNvPr>
          <p:cNvSpPr>
            <a:spLocks noGrp="1"/>
          </p:cNvSpPr>
          <p:nvPr/>
        </p:nvSpPr>
        <p:spPr>
          <a:xfrm>
            <a:off x="13304520" y="24236679"/>
            <a:ext cx="16824960" cy="329184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274320" indent="-274320" algn="l">
              <a:lnSpc>
                <a:spcPct val="108000"/>
              </a:lnSpc>
              <a:spcBef>
                <a:spcPts val="0"/>
              </a:spcBef>
              <a:buClr>
                <a:srgbClr val="461D7C"/>
              </a:buClr>
              <a:buFont typeface="Arial"/>
              <a:buChar char="•"/>
            </a:pPr>
            <a:r>
              <a:rPr sz="24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Scale-out: </a:t>
            </a: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to two workers reduced runtime from 7,368.6 s to 6,030.4 s (1.22×; 18.2% less time), one trial each. The stats + score timer accounts for 86.6% of Run A and includes deferred Spark work. Repeated joins and gzip scans are suspected bottlenecks.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4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Sensitivity: </a:t>
            </a: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at 24 h, raising the threshold from 2 to 3 removes 95.5% of pairs (4,989 to 224). At threshold 3, widening 24 h to 168 h gives 5.8× more pairs and a 328-account component; the cause needs investigation.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4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Groups: </a:t>
            </a: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367 of 443 components are two-account pairs, 76 have 3+ accounts, 4 have 10+. Text matches: 34 pairs in 6 components (Run A) vs. 32 in 5 (Run B).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921A2F-B7FD-4BCB-A6F2-3C5FB536C9B7}"/>
              </a:ext>
            </a:extLst>
          </p:cNvPr>
          <p:cNvSpPr>
            <a:spLocks noGrp="1"/>
          </p:cNvSpPr>
          <p:nvPr/>
        </p:nvSpPr>
        <p:spPr>
          <a:xfrm>
            <a:off x="13395960" y="27848559"/>
            <a:ext cx="9052560" cy="41148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20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Selected candidate groups (Run A)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D9AF0D-1593-4C8E-988A-CEB750E90241}"/>
              </a:ext>
            </a:extLst>
          </p:cNvPr>
          <p:cNvSpPr>
            <a:spLocks noGrp="1"/>
          </p:cNvSpPr>
          <p:nvPr/>
        </p:nvSpPr>
        <p:spPr>
          <a:xfrm>
            <a:off x="22722840" y="27848559"/>
            <a:ext cx="7315199" cy="41148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20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Validation: 6 synthetic patterns</a:t>
            </a: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97C3E3E5-FB9C-4F00-A663-192F1D638ABA}"/>
              </a:ext>
            </a:extLst>
          </p:cNvPr>
          <p:cNvGraphicFramePr/>
          <p:nvPr/>
        </p:nvGraphicFramePr>
        <p:xfrm>
          <a:off x="13395960" y="28324047"/>
          <a:ext cx="9052556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0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0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5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Accts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Mean shared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Text pairs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11.0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0.649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0.645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9.3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0.554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19*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33,694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4.1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0.504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829FB0BE-1FE3-4319-8C21-427353312641}"/>
              </a:ext>
            </a:extLst>
          </p:cNvPr>
          <p:cNvGraphicFramePr/>
          <p:nvPr/>
        </p:nvGraphicFramePr>
        <p:xfrm>
          <a:off x="22722840" y="28324047"/>
          <a:ext cx="7315198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6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Synthetic pattern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Account recall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R1-R3: 3, 5, 10 accounts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R4: only 2 products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0% (by design)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R5: spread past 24 h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0% (by design)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R6: partial, 8 accounts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7/8 (87.5%)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4825D08-8CAB-4260-A538-15B5BF079E78}"/>
              </a:ext>
            </a:extLst>
          </p:cNvPr>
          <p:cNvSpPr>
            <a:spLocks noGrp="1"/>
          </p:cNvSpPr>
          <p:nvPr/>
        </p:nvSpPr>
        <p:spPr>
          <a:xfrm>
            <a:off x="13350240" y="31094679"/>
            <a:ext cx="9144000" cy="73152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6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*Largest: density 0.013; may contain bridging accounts. Reviews cover members’ full input histories.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F120A4-D756-410F-8C23-7AA79B14FD60}"/>
              </a:ext>
            </a:extLst>
          </p:cNvPr>
          <p:cNvSpPr>
            <a:spLocks noGrp="1"/>
          </p:cNvSpPr>
          <p:nvPr/>
        </p:nvSpPr>
        <p:spPr>
          <a:xfrm>
            <a:off x="22677120" y="31094679"/>
            <a:ext cx="7406640" cy="73152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6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Video Games test, synthetic product IDs. Tests rule recovery, not fraud accuracy or real-account contamination.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64E68F-CB54-46BE-9BA0-EC45862B05C7}"/>
              </a:ext>
            </a:extLst>
          </p:cNvPr>
          <p:cNvSpPr>
            <a:spLocks noGrp="1"/>
          </p:cNvSpPr>
          <p:nvPr/>
        </p:nvSpPr>
        <p:spPr>
          <a:xfrm>
            <a:off x="31089600" y="7626096"/>
            <a:ext cx="11887200" cy="7050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DD8958-10CA-4AAB-99B7-D28CAD1F6900}"/>
              </a:ext>
            </a:extLst>
          </p:cNvPr>
          <p:cNvSpPr>
            <a:spLocks noGrp="1"/>
          </p:cNvSpPr>
          <p:nvPr/>
        </p:nvSpPr>
        <p:spPr>
          <a:xfrm>
            <a:off x="31135319" y="7653527"/>
            <a:ext cx="11795760" cy="365760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245745" indent="-245745" algn="l">
              <a:lnSpc>
                <a:spcPct val="108000"/>
              </a:lnSpc>
              <a:spcBef>
                <a:spcPts val="0"/>
              </a:spcBef>
              <a:buClr>
                <a:srgbClr val="461D7C"/>
              </a:buClr>
              <a:buFont typeface="Arial"/>
              <a:buChar char="•"/>
            </a:pPr>
            <a:r>
              <a:rPr sz="21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Amazon Reviews'23 </a:t>
            </a:r>
            <a:r>
              <a:rPr sz="21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(McAuley Lab, UC San Diego): https://amazon-reviews-2023.github.io/</a:t>
            </a:r>
          </a:p>
          <a:p>
            <a:pPr marL="245745" indent="-245745" algn="l">
              <a:lnSpc>
                <a:spcPct val="108000"/>
              </a:lnSpc>
              <a:spcBef>
                <a:spcPts val="500"/>
              </a:spcBef>
              <a:buClr>
                <a:srgbClr val="461D7C"/>
              </a:buClr>
              <a:buFont typeface="Arial"/>
              <a:buChar char="•"/>
            </a:pPr>
            <a:r>
              <a:rPr sz="21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Reviews: </a:t>
            </a:r>
            <a:r>
              <a:rPr sz="21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mcauleylab.ucsd.edu/public_datasets/data/amazon_2023/raw/review_categories/</a:t>
            </a:r>
          </a:p>
          <a:p>
            <a:pPr marL="245745" indent="-245745" algn="l">
              <a:lnSpc>
                <a:spcPct val="108000"/>
              </a:lnSpc>
              <a:spcBef>
                <a:spcPts val="500"/>
              </a:spcBef>
              <a:buClr>
                <a:srgbClr val="461D7C"/>
              </a:buClr>
              <a:buFont typeface="Arial"/>
              <a:buChar char="•"/>
            </a:pPr>
            <a:r>
              <a:rPr sz="21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Metadata: </a:t>
            </a:r>
            <a:r>
              <a:rPr sz="21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mcauleylab.ucsd.edu/public_datasets/data/amazon_2023/raw/meta_categories/</a:t>
            </a:r>
          </a:p>
          <a:p>
            <a:pPr marL="245745" indent="-245745" algn="l">
              <a:lnSpc>
                <a:spcPct val="108000"/>
              </a:lnSpc>
              <a:spcBef>
                <a:spcPts val="500"/>
              </a:spcBef>
              <a:buClr>
                <a:srgbClr val="461D7C"/>
              </a:buClr>
              <a:buFont typeface="Arial"/>
              <a:buChar char="•"/>
            </a:pPr>
            <a:r>
              <a:rPr sz="215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Format: </a:t>
            </a:r>
            <a:r>
              <a:rPr sz="21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gzip JSON Lines, one file per category, joined on parent_asin. 4.76 GB compressed, 17.14 GB raw.</a:t>
            </a: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352C2892-2B9B-4B46-9BF5-C6FA75F0F713}"/>
              </a:ext>
            </a:extLst>
          </p:cNvPr>
          <p:cNvGraphicFramePr/>
          <p:nvPr/>
        </p:nvGraphicFramePr>
        <p:xfrm>
          <a:off x="31272480" y="10735056"/>
          <a:ext cx="11521437" cy="31272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44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Products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600" b="1" i="0">
                          <a:solidFill>
                            <a:srgbClr val="FDD023"/>
                          </a:solidFill>
                          <a:latin typeface="Arial"/>
                          <a:ea typeface="Arial"/>
                          <a:cs typeface="Arial"/>
                        </a:rPr>
                        <a:t>Raw</a:t>
                      </a:r>
                    </a:p>
                  </a:txBody>
                  <a:tcPr marL="73152" marR="73152" marT="27432" marB="27432" anchor="ctr">
                    <a:solidFill>
                      <a:srgbClr val="461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Arts, Crafts &amp; Sewing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8,966,758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801,446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6.12 GB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Baby Products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6,028,884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217,724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3.64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CDs &amp; Vinyl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4,827,273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701,959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4.24 GB</a:t>
                      </a:r>
                    </a:p>
                  </a:txBody>
                  <a:tcPr marL="73152" marR="73152" marT="27432" marB="27432" anchor="ctr">
                    <a:solidFill>
                      <a:srgbClr val="EE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Video Games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4,624,615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137,269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3.12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00" b="1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Total (1996-2023)</a:t>
                      </a:r>
                    </a:p>
                  </a:txBody>
                  <a:tcPr marL="73152" marR="73152" marT="27432" marB="27432"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1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24,447,530</a:t>
                      </a:r>
                    </a:p>
                  </a:txBody>
                  <a:tcPr marL="73152" marR="73152" marT="27432" marB="27432"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1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1,858,398</a:t>
                      </a:r>
                    </a:p>
                  </a:txBody>
                  <a:tcPr marL="73152" marR="73152" marT="27432" marB="27432"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900" b="1" i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17.14 GB</a:t>
                      </a:r>
                    </a:p>
                  </a:txBody>
                  <a:tcPr marL="73152" marR="73152" marT="27432" marB="27432" anchor="ctr"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E5D3E58C-B8A5-4895-80B3-ECF23B188E65}"/>
              </a:ext>
            </a:extLst>
          </p:cNvPr>
          <p:cNvSpPr>
            <a:spLocks noGrp="1"/>
          </p:cNvSpPr>
          <p:nvPr/>
        </p:nvSpPr>
        <p:spPr>
          <a:xfrm>
            <a:off x="31181040" y="13898880"/>
            <a:ext cx="11704320" cy="640080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sz="15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Raw sizes include reviews + metadata; GB = 10^9 bytes.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FE505DE-0938-4CCF-A89F-2E8366540A65}"/>
              </a:ext>
            </a:extLst>
          </p:cNvPr>
          <p:cNvSpPr>
            <a:spLocks noGrp="1"/>
          </p:cNvSpPr>
          <p:nvPr/>
        </p:nvSpPr>
        <p:spPr>
          <a:xfrm>
            <a:off x="31089600" y="15809976"/>
            <a:ext cx="11887200" cy="16468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A2DFC1-FE50-48CC-A904-86D72D896E40}"/>
              </a:ext>
            </a:extLst>
          </p:cNvPr>
          <p:cNvSpPr>
            <a:spLocks noGrp="1"/>
          </p:cNvSpPr>
          <p:nvPr/>
        </p:nvSpPr>
        <p:spPr>
          <a:xfrm>
            <a:off x="31135319" y="15855696"/>
            <a:ext cx="11795760" cy="13587983"/>
          </a:xfrm>
          <a:prstGeom prst="rect">
            <a:avLst/>
          </a:prstGeom>
          <a:noFill/>
        </p:spPr>
        <p:txBody>
          <a:bodyPr wrap="square" lIns="109728" tIns="54864" rIns="109728" bIns="36576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buNone/>
            </a:pPr>
            <a:r>
              <a:rPr sz="30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What we learned</a:t>
            </a:r>
          </a:p>
          <a:p>
            <a:pPr marL="308610" indent="-308610" algn="l">
              <a:lnSpc>
                <a:spcPct val="112000"/>
              </a:lnSpc>
              <a:spcBef>
                <a:spcPts val="4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API choice is a performance choice: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moving from row-based Python code to DataFrames turned a job that could not finish into one that does.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Profile before explaining: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stats + score timer dominates runtime; isolate deferred work before claiming a specific root cause.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One default can break a cluster: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local filesystem defaults and incomplete HDFS paths caused failures during cluster setup.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Report your thresholds: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same data gives answers that differ by orders of magnitude.</a:t>
            </a:r>
          </a:p>
          <a:p>
            <a:pPr marL="0" indent="0" algn="l">
              <a:lnSpc>
                <a:spcPct val="112000"/>
              </a:lnSpc>
              <a:spcBef>
                <a:spcPts val="2000"/>
              </a:spcBef>
              <a:buNone/>
            </a:pPr>
            <a:r>
              <a:rPr sz="30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Limitations</a:t>
            </a:r>
          </a:p>
          <a:p>
            <a:pPr marL="308610" indent="-308610" algn="l">
              <a:lnSpc>
                <a:spcPct val="112000"/>
              </a:lnSpc>
              <a:spcBef>
                <a:spcPts val="4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No ground truth: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shared households, product launches or Vine can also cause co-reviews, so flagged groups need human review.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Components are transitive: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bridge can join groups. Fixed buckets can separate reviews minutes apart.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Score weights are hand chosen,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not probabilities. Rating/time signals use members’ full input histories.</a:t>
            </a:r>
          </a:p>
          <a:p>
            <a:pPr marL="0" indent="0" algn="l">
              <a:lnSpc>
                <a:spcPct val="112000"/>
              </a:lnSpc>
              <a:spcBef>
                <a:spcPts val="2000"/>
              </a:spcBef>
              <a:buNone/>
            </a:pPr>
            <a:r>
              <a:rPr sz="30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Future work</a:t>
            </a:r>
          </a:p>
          <a:p>
            <a:pPr marL="308610" indent="-308610" algn="l">
              <a:lnSpc>
                <a:spcPct val="112000"/>
              </a:lnSpc>
              <a:spcBef>
                <a:spcPts val="4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1.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Persist reused joins; measure runtime over repeated trials.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2.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Use Parquet input to improve scan parallelism.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3.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Test stable review IDs and deterministic text results across cluster sizes.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4.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Validate weights with independent labels and realistic mixed-product tests.</a:t>
            </a:r>
          </a:p>
          <a:p>
            <a:pPr marL="308610" indent="-308610" algn="l">
              <a:lnSpc>
                <a:spcPct val="112000"/>
              </a:lnSpc>
              <a:spcBef>
                <a:spcPts val="700"/>
              </a:spcBef>
              <a:buClr>
                <a:srgbClr val="461D7C"/>
              </a:buClr>
              <a:buFont typeface="Arial"/>
              <a:buChar char="•"/>
            </a:pPr>
            <a:r>
              <a:rPr sz="2700" b="1" i="0">
                <a:solidFill>
                  <a:srgbClr val="461D7C"/>
                </a:solidFill>
                <a:latin typeface="Arial"/>
                <a:ea typeface="Arial"/>
                <a:cs typeface="Arial"/>
              </a:rPr>
              <a:t>5. </a:t>
            </a:r>
            <a:r>
              <a:rPr sz="27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Extend category coverage and evaluate a streaming mode.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5414E5C-746C-4F61-9822-B145ED7BB4A2}"/>
              </a:ext>
            </a:extLst>
          </p:cNvPr>
          <p:cNvSpPr>
            <a:spLocks noGrp="1"/>
          </p:cNvSpPr>
          <p:nvPr/>
        </p:nvSpPr>
        <p:spPr>
          <a:xfrm>
            <a:off x="31363919" y="29443680"/>
            <a:ext cx="11338560" cy="2560320"/>
          </a:xfrm>
          <a:prstGeom prst="roundRect">
            <a:avLst>
              <a:gd name="adj" fmla="val 12000"/>
            </a:avLst>
          </a:prstGeom>
          <a:solidFill>
            <a:srgbClr val="461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anchor="ctr"/>
          <a:lstStyle/>
          <a:p>
            <a:pPr algn="ctr">
              <a:buNone/>
            </a:pPr>
            <a:r>
              <a:rPr sz="3200" b="1" i="0">
                <a:solidFill>
                  <a:srgbClr val="FDD023"/>
                </a:solidFill>
                <a:latin typeface="Arial"/>
                <a:ea typeface="Arial"/>
                <a:cs typeface="Arial"/>
              </a:rPr>
              <a:t>24.4M reviews to 443 ranked candidate groups</a:t>
            </a:r>
          </a:p>
          <a:p>
            <a:pPr algn="ctr">
              <a:spcBef>
                <a:spcPts val="200"/>
              </a:spcBef>
              <a:buNone/>
            </a:pPr>
            <a:r>
              <a:rPr sz="2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1.22× measured speedup with two EMR workers.</a:t>
            </a:r>
          </a:p>
          <a:p>
            <a:pPr algn="ctr">
              <a:spcBef>
                <a:spcPts val="200"/>
              </a:spcBef>
              <a:buNone/>
            </a:pPr>
            <a:r>
              <a:rPr sz="2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groups require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3620187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</Words>
  <Application>Microsoft Office PowerPoint</Application>
  <DocSecurity>0</DocSecurity>
  <PresentationFormat>Custom</PresentationFormat>
  <Paragraphs>172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Lucida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Riyadil Zannat</cp:lastModifiedBy>
  <cp:revision>1</cp:revision>
  <dcterms:created xsi:type="dcterms:W3CDTF">2026-10-09T17:27:38Z</dcterms:created>
  <dcterms:modified xsi:type="dcterms:W3CDTF">2026-10-09T23:45:05Z</dcterms:modified>
</cp:coreProperties>
</file>